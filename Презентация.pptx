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D4BC59DC-C279-DA1F-F4BF-EB06999DA5E3}">
          <p14:sldIdLst>
            <p14:sldId id="256"/>
            <p14:sldId id="257"/>
          </p14:sldIdLst>
        </p14:section>
        <p14:section name="Проектирование" id="{88DCA582-26BE-CAB2-9D8E-E5E75805C735}">
          <p14:sldIdLst>
            <p14:sldId id="258"/>
            <p14:sldId id="259"/>
            <p14:sldId id="260"/>
          </p14:sldIdLst>
        </p14:section>
        <p14:section name="Реализация" id="{AFE371C2-DCF7-3947-F149-6E0544FCE11D}">
          <p14:sldIdLst>
            <p14:sldId id="261"/>
            <p14:sldId id="262"/>
          </p14:sldIdLst>
        </p14:section>
        <p14:section name="Результаты" id="{847F9B6C-B551-B1E6-6D57-95C6D023CFA0}">
          <p14:sldIdLst>
            <p14:sldId id="263"/>
            <p14:sldId id="264"/>
          </p14:sldIdLst>
        </p14:section>
        <p14:section name="Заключение" id="{A8EA3058-7DB9-D447-77B8-47A565380FF5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6" d="100"/>
          <a:sy n="106" d="100"/>
        </p:scale>
        <p:origin x="816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9640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Здравствуйте. Моя тема: хранилище пользовательских сессий на Redis. Сессия — это «электронный пропуск», который сайт выдаёт после входа. Я сделал рабочий прототип такого хранилища на Java и проверил его запросами и тестами.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Объясню на примере браслета в аквапарке. Браслет проверяют на каждом аттракционе, поэтому проверка должна быть мгновенной. У браслета есть срок. Если браслет потеряли, его можно аннулировать. Так же работает сессия на сайте. Моя цель — построить такое хранилище на Redis и показать, что оно быстрое и удобное.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Функциональные требования — это что система умеет делать. Нефункциональные — как хорошо. Например, быстрее 10 миллисекунд. Access Pattern — это заранее продуманный вопрос к хранилищу. Самые частые: создать и проверить сессию. Поэтому именно их надо сделать самыми быстрыми.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Я сравнил три технологии. PostgreSQL — как архив: надёжно, но медленнее. MongoDB — гибкие папки, но уборщик приходит раз в минуту. Redis — блокнот на столе: данные в памяти и таймер самоуничтожения. Минус Redis — нельзя искать по содержимому, поэтому я добавил отдельный список сессий пользователя.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Каждая сессия — это Hash, то есть карточка с полями: чей пропуск, с какого адреса, статус и время. У карточки есть таймер. Отдельно для каждого пользователя есть список номеров его сессий — Set. Он нужен, потому что Redis не умеет искать по содержимому. Три правила: таймер продлевается при активности; отозванная запись живёт 5 минут для аудита; лишние номера из списка удаляются при чтении.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Архитектура простая, четыре блока. Слева — запускающие классы. Дальше сервис с логикой. Потом Jedis — библиотека-переводчик. И Redis в контейнере Docker. На примере: при входе сервис создаёт номер пропуска, записывает карточку с таймером и добавляет номер в список пользователя. При каждом клике сервис читает карточку и решает, пускать или 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главный метод — вход. Пять строк. Придумали номер, записали карточку, включили таймер, добавили номер в список пользователя, вернули номер. Весь проект — пять небольших классов. Данные тестовые: 40 выдуманных сессий, чтобы не использовать персональные данные.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Выполнено 12 запросов. Проверка сессии занимает 0,349 миллисекунды — в тридцать раз быстрее требования. Пять автотестов прошли. А число ключей в Redis снизилось с 43 до 37: просроченные сессии Redis удалил сам, без нашего кода. Это главное доказательство автоматического истечения.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Честно скажу, что прототип не идеален. Главное ограничение — данные в памяти: без настройки сохранения сессии пропадут при перезапуске. Статистика через перебор ключей медленная на больших объёмах. Для реального сайта нужны кластер, пароль и шифрование. Для каждого ограничения я указал, как его исправить.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Итог: хранилище сессий на Redis работает — вход, проверка, продление, выход, отзыв и автоматическое удаление. Проверка очень быстрая. Все решения обоснованы. Проект запускается за пять действий, инструкция в README. Спасибо за внимание, готов ответить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r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51560" cy="914400"/>
          </a:xfrm>
          <a:prstGeom prst="rect">
            <a:avLst/>
          </a:prstGeom>
        </p:spPr>
      </p:pic>
      <p:pic>
        <p:nvPicPr>
          <p:cNvPr id="3" name="Image 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256032"/>
            <a:ext cx="1920240" cy="301752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1234440" y="256032"/>
            <a:ext cx="84124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1440" y="9144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r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51560" cy="9144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1234440" y="256032"/>
            <a:ext cx="103327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1440" y="9144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1440" y="9144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1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ложка логотипа"/>
          <p:cNvSpPr/>
          <p:nvPr/>
        </p:nvSpPr>
        <p:spPr>
          <a:xfrm>
            <a:off x="3017520" y="1188720"/>
            <a:ext cx="6217920" cy="11430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1389888"/>
            <a:ext cx="5760720" cy="90525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6517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bg1"/>
                </a:solidFill>
              </a:rPr>
              <a:t>Хранилище пользовательских сессий на Redis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47472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accent3"/>
                </a:solidFill>
              </a:rPr>
              <a:t>Самостоятельная работа студента (СРО), вариант 9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8862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3"/>
                </a:solidFill>
              </a:rPr>
              <a:t>Дисциплина: «Проектирование и применение NoSQL-технологий»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017520" y="4754880"/>
            <a:ext cx="6217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Студент: Замякин Константин Дмитриевич</a:t>
            </a:r>
            <a:endParaRPr lang="en-US" sz="14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Группа: ИС 24-21, 3 курс</a:t>
            </a:r>
            <a:endParaRPr lang="en-US" sz="1400" dirty="0"/>
          </a:p>
          <a:p>
            <a:pPr algn="ctr">
              <a:spcAft>
                <a:spcPts val="400"/>
              </a:spcAft>
            </a:pPr>
            <a:r>
              <a:rPr lang="en-US" sz="1400" dirty="0">
                <a:solidFill>
                  <a:schemeClr val="bg1"/>
                </a:solidFill>
              </a:rPr>
              <a:t>Преподаватель: </a:t>
            </a:r>
            <a:r>
              <a:rPr lang="ru-KZ" sz="1400" i="1" dirty="0">
                <a:solidFill>
                  <a:schemeClr val="bg1"/>
                </a:solidFill>
              </a:rPr>
              <a:t>Рашидинов.Д.Р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731520" y="61722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3"/>
                </a:solidFill>
              </a:rPr>
              <a:t>Технологии: Redis · Java 17 · Jedis · Docker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1440" y="9144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lang="en-US" b="1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2" hasCustomPrompt="1"/>
          </p:nvPr>
        </p:nvSpPr>
        <p:spPr>
          <a:xfrm>
            <a:off x="1234440" y="256032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Проблема и цель: что такое сессия</a:t>
            </a:r>
            <a:endParaRPr lang="en-US" sz="2800" dirty="0"/>
          </a:p>
        </p:txBody>
      </p:sp>
      <p:sp>
        <p:nvSpPr>
          <p:cNvPr id="3" name="Простыми словами"/>
          <p:cNvSpPr/>
          <p:nvPr/>
        </p:nvSpPr>
        <p:spPr>
          <a:xfrm>
            <a:off x="548640" y="1188720"/>
            <a:ext cx="11064240" cy="960120"/>
          </a:xfrm>
          <a:prstGeom prst="roundRect">
            <a:avLst>
              <a:gd name="adj" fmla="val 9524"/>
            </a:avLst>
          </a:prstGeom>
          <a:solidFill>
            <a:schemeClr val="accent4">
              <a:alpha val="18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1078992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Простыми словами: </a:t>
            </a:r>
            <a:r>
              <a:rPr lang="en-US" sz="1400" dirty="0">
                <a:solidFill>
                  <a:schemeClr val="tx1"/>
                </a:solidFill>
              </a:rPr>
              <a:t>когда вы входите на сайт, он не спрашивает пароль при каждом клике. После входа сайт выдаёт «электронный пропуск» (сессию) и просто проверяет его при каждом действии. Это как браслет в аквапарке: показал — прошёл; время вышло — не работает; браслет потеряли — администратор его аннулирует.</a:t>
            </a:r>
            <a:endParaRPr lang="en-US" sz="1400" dirty="0"/>
          </a:p>
        </p:txBody>
      </p:sp>
      <p:sp>
        <p:nvSpPr>
          <p:cNvPr id="5" name="Карточка Проблема: чего требует хранение пропусков"/>
          <p:cNvSpPr/>
          <p:nvPr/>
        </p:nvSpPr>
        <p:spPr>
          <a:xfrm>
            <a:off x="548640" y="2331720"/>
            <a:ext cx="5440680" cy="3977640"/>
          </a:xfrm>
          <a:prstGeom prst="roundRect">
            <a:avLst>
              <a:gd name="adj" fmla="val 2299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4505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542032"/>
            <a:ext cx="201168" cy="20116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70432" y="2423160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Проблема: чего требует хранение пропусков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13232" y="2935224"/>
            <a:ext cx="5111496" cy="32826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Скорость. </a:t>
            </a:r>
            <a:r>
              <a:rPr lang="en-US" sz="1400" dirty="0">
                <a:solidFill>
                  <a:schemeClr val="tx1"/>
                </a:solidFill>
              </a:rPr>
              <a:t>Пропуск проверяют при каждом клике, поэтому ответ нужен мгновенно, иначе сайт «тормозит».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Срок жизни. </a:t>
            </a:r>
            <a:r>
              <a:rPr lang="en-US" sz="1400" dirty="0">
                <a:solidFill>
                  <a:schemeClr val="tx1"/>
                </a:solidFill>
              </a:rPr>
              <a:t>Пропуск должен «сгорать» сам. Иначе забытый вход на чужом компьютере останется открытым навсегда.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Отзыв. </a:t>
            </a:r>
            <a:r>
              <a:rPr lang="en-US" sz="1400" dirty="0">
                <a:solidFill>
                  <a:schemeClr val="tx1"/>
                </a:solidFill>
              </a:rPr>
              <a:t>Если украден телефон или сотрудник уволен, администратор должен аннулировать пропуск досрочно.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Несколько входов. </a:t>
            </a:r>
            <a:r>
              <a:rPr lang="en-US" sz="1400" dirty="0">
                <a:solidFill>
                  <a:schemeClr val="tx1"/>
                </a:solidFill>
              </a:rPr>
              <a:t>У одного человека может быть несколько пропусков сразу: телефон, ноутбук, планшет.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Что внутри пропуска. </a:t>
            </a:r>
            <a:r>
              <a:rPr lang="en-US" sz="1400" dirty="0">
                <a:solidFill>
                  <a:schemeClr val="tx1"/>
                </a:solidFill>
              </a:rPr>
              <a:t>Пароля там нет. Это случайный номер, по которому сайт находит запись о вас.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Без хранилища. </a:t>
            </a:r>
            <a:r>
              <a:rPr lang="en-US" sz="1400" dirty="0">
                <a:solidFill>
                  <a:schemeClr val="tx1"/>
                </a:solidFill>
              </a:rPr>
              <a:t>Сайт просил бы пароль на каждом клике, и пользоваться им было бы невозможно.</a:t>
            </a:r>
            <a:endParaRPr lang="en-US" sz="1400" dirty="0"/>
          </a:p>
        </p:txBody>
      </p:sp>
      <p:sp>
        <p:nvSpPr>
          <p:cNvPr id="10" name="Карточка Цель и задачи работы"/>
          <p:cNvSpPr/>
          <p:nvPr/>
        </p:nvSpPr>
        <p:spPr>
          <a:xfrm>
            <a:off x="6172200" y="2331720"/>
            <a:ext cx="5440680" cy="3977640"/>
          </a:xfrm>
          <a:prstGeom prst="roundRect">
            <a:avLst>
              <a:gd name="adj" fmla="val 2299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09360" y="24505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542032"/>
            <a:ext cx="201168" cy="20116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793992" y="2423160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Цель и задачи работы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336792" y="2935224"/>
            <a:ext cx="5111496" cy="32826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Цель: </a:t>
            </a:r>
            <a:r>
              <a:rPr lang="en-US" sz="1400" dirty="0">
                <a:solidFill>
                  <a:schemeClr val="tx1"/>
                </a:solidFill>
              </a:rPr>
              <a:t>сделать работающий прототип хранилища пропусков на Redis: данные в структуре Hash, срок жизни через EXPIRE/TTL.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Задачи: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описать требования и типовые запросы (Access Patterns);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обосновать, почему Redis лучше PostgreSQL и MongoDB (ADR);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спроектировать модель данных (Hash и Set);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написать код на Java (создание, чтение, продление, удаление);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заполнить 40 тестовыми сессиями, выполнить 12 запросов и 5 тестов;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выложить проект на GitHub с инструкцией запуска.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Итог: </a:t>
            </a:r>
            <a:r>
              <a:rPr lang="en-US" sz="1400" dirty="0">
                <a:solidFill>
                  <a:schemeClr val="tx1"/>
                </a:solidFill>
              </a:rPr>
              <a:t>рабочий проект с кодом, данными, тестами, отчётом и презентацией.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1440" y="9144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lang="en-US" b="1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2" hasCustomPrompt="1"/>
          </p:nvPr>
        </p:nvSpPr>
        <p:spPr>
          <a:xfrm>
            <a:off x="1234440" y="256032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Требования: что должна уметь система</a:t>
            </a:r>
            <a:endParaRPr lang="en-US" sz="2800" dirty="0"/>
          </a:p>
        </p:txBody>
      </p:sp>
      <p:sp>
        <p:nvSpPr>
          <p:cNvPr id="3" name="Карточка 8 функциональных требований (что умеет)"/>
          <p:cNvSpPr/>
          <p:nvPr/>
        </p:nvSpPr>
        <p:spPr>
          <a:xfrm>
            <a:off x="548640" y="1188720"/>
            <a:ext cx="5669280" cy="411480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075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399032"/>
            <a:ext cx="201168" cy="2011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70432" y="1280160"/>
            <a:ext cx="49560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8 функциональных требований (что умеет)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13232" y="1792224"/>
            <a:ext cx="5340096" cy="34198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FR1 Вход. </a:t>
            </a:r>
            <a:r>
              <a:rPr lang="en-US" sz="1400" dirty="0">
                <a:solidFill>
                  <a:schemeClr val="tx1"/>
                </a:solidFill>
              </a:rPr>
              <a:t>Человек ввёл пароль, система создаёт сессию и задаёт срок её жизни.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FR2 Проверка. </a:t>
            </a:r>
            <a:r>
              <a:rPr lang="en-US" sz="1400" dirty="0">
                <a:solidFill>
                  <a:schemeClr val="tx1"/>
                </a:solidFill>
              </a:rPr>
              <a:t>По номеру пропуска узнаём, действует ли он.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FR3 Продление. </a:t>
            </a:r>
            <a:r>
              <a:rPr lang="en-US" sz="1400" dirty="0">
                <a:solidFill>
                  <a:schemeClr val="tx1"/>
                </a:solidFill>
              </a:rPr>
              <a:t>Пока человек работает, срок пропуска сдвигается вперёд.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FR4 Выход. </a:t>
            </a:r>
            <a:r>
              <a:rPr lang="en-US" sz="1400" dirty="0">
                <a:solidFill>
                  <a:schemeClr val="tx1"/>
                </a:solidFill>
              </a:rPr>
              <a:t>Нажал «Выйти»: запись удаляется.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FR5 Отзыв. </a:t>
            </a:r>
            <a:r>
              <a:rPr lang="en-US" sz="1400" dirty="0">
                <a:solidFill>
                  <a:schemeClr val="tx1"/>
                </a:solidFill>
              </a:rPr>
              <a:t>Администратор аннулирует один пропуск.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FR6 Отзыв всех. </a:t>
            </a:r>
            <a:r>
              <a:rPr lang="en-US" sz="1400" dirty="0">
                <a:solidFill>
                  <a:schemeClr val="tx1"/>
                </a:solidFill>
              </a:rPr>
              <a:t>Аннулировать все пропуска человека разом.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FR7 Список. </a:t>
            </a:r>
            <a:r>
              <a:rPr lang="en-US" sz="1400" dirty="0">
                <a:solidFill>
                  <a:schemeClr val="tx1"/>
                </a:solidFill>
              </a:rPr>
              <a:t>Показать, где человек сейчас вошёл.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FR8 Автоудаление. </a:t>
            </a:r>
            <a:r>
              <a:rPr lang="en-US" sz="1400" dirty="0">
                <a:solidFill>
                  <a:schemeClr val="tx1"/>
                </a:solidFill>
              </a:rPr>
              <a:t>Просроченное Redis удаляет сам (EXPIRE).</a:t>
            </a:r>
            <a:endParaRPr lang="en-US" sz="1400" dirty="0"/>
          </a:p>
        </p:txBody>
      </p:sp>
      <p:sp>
        <p:nvSpPr>
          <p:cNvPr id="8" name="Карточка 4 нефункциональных (как хорошо работает)"/>
          <p:cNvSpPr/>
          <p:nvPr/>
        </p:nvSpPr>
        <p:spPr>
          <a:xfrm>
            <a:off x="6400800" y="1188720"/>
            <a:ext cx="5212080" cy="411480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37960" y="1307592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139903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022592" y="1280160"/>
            <a:ext cx="44988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4 нефункциональных (как хорошо работает)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6565392" y="1792224"/>
            <a:ext cx="4882896" cy="34198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NFR1 Скорость. </a:t>
            </a:r>
            <a:r>
              <a:rPr lang="en-US" sz="1400" dirty="0">
                <a:solidFill>
                  <a:schemeClr val="tx1"/>
                </a:solidFill>
              </a:rPr>
              <a:t>Проверка быстрее 10 мс (одна сотая секунды: человек не заметит). Измерено: 0,349 мс.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NFR2 Надёжность. </a:t>
            </a:r>
            <a:r>
              <a:rPr lang="en-US" sz="1400" dirty="0">
                <a:solidFill>
                  <a:schemeClr val="tx1"/>
                </a:solidFill>
              </a:rPr>
              <a:t>Просроченная или отозванная сессия не действует. Отозванная запись лежит в базе ещё 5 минут, но проверка её не пропускает.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NFR3 Безопасность. </a:t>
            </a:r>
            <a:r>
              <a:rPr lang="en-US" sz="1400" dirty="0">
                <a:solidFill>
                  <a:schemeClr val="tx1"/>
                </a:solidFill>
              </a:rPr>
              <a:t>Пароли и настройки хранятся в файле .env, которого нет на GitHub. В проекте только выдуманные данные.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NFR4 Простота запуска. </a:t>
            </a:r>
            <a:r>
              <a:rPr lang="en-US" sz="1400" dirty="0">
                <a:solidFill>
                  <a:schemeClr val="tx1"/>
                </a:solidFill>
              </a:rPr>
              <a:t>Проект запускается по README за 5 действий. Нужны только Docker и Java 17.</a:t>
            </a:r>
            <a:endParaRPr lang="en-US" sz="1400" dirty="0"/>
          </a:p>
        </p:txBody>
      </p:sp>
      <p:sp>
        <p:nvSpPr>
          <p:cNvPr id="13" name="Простыми словами"/>
          <p:cNvSpPr/>
          <p:nvPr/>
        </p:nvSpPr>
        <p:spPr>
          <a:xfrm>
            <a:off x="548640" y="5440680"/>
            <a:ext cx="11064240" cy="914400"/>
          </a:xfrm>
          <a:prstGeom prst="roundRect">
            <a:avLst>
              <a:gd name="adj" fmla="val 10000"/>
            </a:avLst>
          </a:prstGeom>
          <a:solidFill>
            <a:schemeClr val="accent4">
              <a:alpha val="18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85800" y="5440680"/>
            <a:ext cx="1078992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Простыми словами: </a:t>
            </a:r>
            <a:r>
              <a:rPr lang="en-US" sz="1400" dirty="0">
                <a:solidFill>
                  <a:schemeClr val="tx1"/>
                </a:solidFill>
              </a:rPr>
              <a:t>Access Pattern (шаблон доступа) — это заранее продуманный вопрос к данным, например «проверить пропуск по номеру». В NoSQL сначала решают, какие вопросы будем задавать, потом строят хранилище. Здесь 10 таких вопросов: от «создать» и «проверить» (частые, высокий приоритет) до «статистика» (редкие, низкий).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1440" y="9144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lang="en-US" b="1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2" hasCustomPrompt="1"/>
          </p:nvPr>
        </p:nvSpPr>
        <p:spPr>
          <a:xfrm>
            <a:off x="1234440" y="256032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Выбор технологии: почему Redis</a:t>
            </a:r>
            <a:endParaRPr lang="en-US" sz="2800" dirty="0"/>
          </a:p>
        </p:txBody>
      </p:sp>
      <p:sp>
        <p:nvSpPr>
          <p:cNvPr id="3" name="Карточка PostgreSQL — «архив»"/>
          <p:cNvSpPr/>
          <p:nvPr/>
        </p:nvSpPr>
        <p:spPr>
          <a:xfrm>
            <a:off x="548640" y="1188720"/>
            <a:ext cx="356616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07592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399032"/>
            <a:ext cx="201168" cy="2011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70432" y="1280160"/>
            <a:ext cx="285292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PostgreSQL — «архив»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13232" y="1792224"/>
            <a:ext cx="3236976" cy="27340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Сравнение: </a:t>
            </a:r>
            <a:r>
              <a:rPr lang="en-US" sz="1400" dirty="0">
                <a:solidFill>
                  <a:schemeClr val="tx1"/>
                </a:solidFill>
              </a:rPr>
              <a:t>картотека в архиве. Надёжно, но за каждой карточкой нужно ходить на диск.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Скорость: </a:t>
            </a:r>
            <a:r>
              <a:rPr lang="en-US" sz="1400" dirty="0">
                <a:solidFill>
                  <a:schemeClr val="tx1"/>
                </a:solidFill>
              </a:rPr>
              <a:t>средняя.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Истечение: </a:t>
            </a:r>
            <a:r>
              <a:rPr lang="en-US" sz="1400" dirty="0">
                <a:solidFill>
                  <a:schemeClr val="tx1"/>
                </a:solidFill>
              </a:rPr>
              <a:t>нужно самим запускать очистку по расписанию.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Поиск по полям: </a:t>
            </a:r>
            <a:r>
              <a:rPr lang="en-US" sz="1400" dirty="0">
                <a:solidFill>
                  <a:schemeClr val="tx1"/>
                </a:solidFill>
              </a:rPr>
              <a:t>да.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Для сессий: </a:t>
            </a:r>
            <a:r>
              <a:rPr lang="en-US" sz="1400" dirty="0">
                <a:solidFill>
                  <a:schemeClr val="tx1"/>
                </a:solidFill>
              </a:rPr>
              <a:t>подходит, но избыточно: для коротких записей не нужны таблицы и транзакции.</a:t>
            </a:r>
            <a:endParaRPr lang="en-US" sz="1400" dirty="0"/>
          </a:p>
        </p:txBody>
      </p:sp>
      <p:sp>
        <p:nvSpPr>
          <p:cNvPr id="8" name="Карточка MongoDB — «гибкие папки»"/>
          <p:cNvSpPr/>
          <p:nvPr/>
        </p:nvSpPr>
        <p:spPr>
          <a:xfrm>
            <a:off x="4297680" y="1188720"/>
            <a:ext cx="356616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434840" y="1307592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139903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919472" y="1280160"/>
            <a:ext cx="285292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MongoDB — «гибкие папки»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4462272" y="1792224"/>
            <a:ext cx="3236976" cy="27340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Сравнение: </a:t>
            </a:r>
            <a:r>
              <a:rPr lang="en-US" sz="1400" dirty="0">
                <a:solidFill>
                  <a:schemeClr val="tx1"/>
                </a:solidFill>
              </a:rPr>
              <a:t>удобные папки с любыми документами, но хранятся на диске.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Скорость: </a:t>
            </a:r>
            <a:r>
              <a:rPr lang="en-US" sz="1400" dirty="0">
                <a:solidFill>
                  <a:schemeClr val="tx1"/>
                </a:solidFill>
              </a:rPr>
              <a:t>средняя.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Истечение: </a:t>
            </a:r>
            <a:r>
              <a:rPr lang="en-US" sz="1400" dirty="0">
                <a:solidFill>
                  <a:schemeClr val="tx1"/>
                </a:solidFill>
              </a:rPr>
              <a:t>есть TTL-индекс, но «уборщик» приходит раз в минуту, поэтому просроченная запись может жить ещё до минуты.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Поиск по полям: </a:t>
            </a:r>
            <a:r>
              <a:rPr lang="en-US" sz="1400" dirty="0">
                <a:solidFill>
                  <a:schemeClr val="tx1"/>
                </a:solidFill>
              </a:rPr>
              <a:t>да.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Для сессий: </a:t>
            </a:r>
            <a:r>
              <a:rPr lang="en-US" sz="1400" dirty="0">
                <a:solidFill>
                  <a:schemeClr val="tx1"/>
                </a:solidFill>
              </a:rPr>
              <a:t>подходит лучше, но уступает Redis в скорости и точности срока.</a:t>
            </a:r>
            <a:endParaRPr lang="en-US" sz="1400" dirty="0"/>
          </a:p>
        </p:txBody>
      </p:sp>
      <p:sp>
        <p:nvSpPr>
          <p:cNvPr id="13" name="Карточка Redis — «блокнот на столе»"/>
          <p:cNvSpPr/>
          <p:nvPr/>
        </p:nvSpPr>
        <p:spPr>
          <a:xfrm>
            <a:off x="8046720" y="1188720"/>
            <a:ext cx="3566160" cy="34290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183880" y="13075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1399032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668512" y="1280160"/>
            <a:ext cx="285292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Redis — «блокнот на столе»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8211312" y="1792224"/>
            <a:ext cx="3236976" cy="27340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Сравнение: </a:t>
            </a:r>
            <a:r>
              <a:rPr lang="en-US" sz="1400" dirty="0">
                <a:solidFill>
                  <a:schemeClr val="tx1"/>
                </a:solidFill>
              </a:rPr>
              <a:t>блокнот под рукой: данные в оперативной памяти, поэтому ответ мгновенный.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Скорость: </a:t>
            </a:r>
            <a:r>
              <a:rPr lang="en-US" sz="1400" dirty="0">
                <a:solidFill>
                  <a:schemeClr val="tx1"/>
                </a:solidFill>
              </a:rPr>
              <a:t>высокая.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Истечение: </a:t>
            </a:r>
            <a:r>
              <a:rPr lang="en-US" sz="1400" dirty="0">
                <a:solidFill>
                  <a:schemeClr val="tx1"/>
                </a:solidFill>
              </a:rPr>
              <a:t>встроенный таймер EXPIRE, запись сама «самоуничтожается» точно в срок.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Поиск по полям: </a:t>
            </a:r>
            <a:r>
              <a:rPr lang="en-US" sz="1400" dirty="0">
                <a:solidFill>
                  <a:schemeClr val="tx1"/>
                </a:solidFill>
              </a:rPr>
              <a:t>нет (решаем через Set).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Для сессий: </a:t>
            </a:r>
            <a:r>
              <a:rPr lang="en-US" sz="1400" dirty="0">
                <a:solidFill>
                  <a:schemeClr val="tx1"/>
                </a:solidFill>
              </a:rPr>
              <a:t>подходит идеально: быстро, есть таймер, ключ — это номер пропуска.</a:t>
            </a:r>
            <a:endParaRPr lang="en-US" sz="1400" dirty="0"/>
          </a:p>
        </p:txBody>
      </p:sp>
      <p:sp>
        <p:nvSpPr>
          <p:cNvPr id="18" name="Карточка Решение ADR-001: берём Redis"/>
          <p:cNvSpPr/>
          <p:nvPr/>
        </p:nvSpPr>
        <p:spPr>
          <a:xfrm>
            <a:off x="548640" y="4800600"/>
            <a:ext cx="548640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85800" y="491947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010912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170432" y="4892040"/>
            <a:ext cx="477316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Решение ADR-001: берём Redis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713232" y="5404104"/>
            <a:ext cx="5157216" cy="8595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ADR — короткая запись «что выбрали и почему». Сессии живут недолго, читаются очень часто и должны сами истекать. Именно это Redis делает лучше всех.</a:t>
            </a:r>
            <a:endParaRPr lang="en-US" sz="1400" dirty="0"/>
          </a:p>
        </p:txBody>
      </p:sp>
      <p:sp>
        <p:nvSpPr>
          <p:cNvPr id="23" name="Карточка Нюанс: чем мы платим за выбор"/>
          <p:cNvSpPr/>
          <p:nvPr/>
        </p:nvSpPr>
        <p:spPr>
          <a:xfrm>
            <a:off x="6217920" y="4800600"/>
            <a:ext cx="539496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355080" y="4919472"/>
            <a:ext cx="384048" cy="38404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5010912"/>
            <a:ext cx="201168" cy="20116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839712" y="4892040"/>
            <a:ext cx="468172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Нюанс: чем мы платим за выбор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6382512" y="5404104"/>
            <a:ext cx="5065776" cy="8595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Redis не умеет искать по содержимому и держит данные в памяти. Поиск «все сессии пользователя» мы решили отдельным списком (Set), а риск потери данных описали в ограничениях.</a:t>
            </a: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1440" y="9144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lang="en-US" b="1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2" hasCustomPrompt="1"/>
          </p:nvPr>
        </p:nvSpPr>
        <p:spPr>
          <a:xfrm>
            <a:off x="1234440" y="256032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Модель данных: Hash и Set</a:t>
            </a:r>
            <a:endParaRPr lang="en-US" sz="2800" dirty="0"/>
          </a:p>
        </p:txBody>
      </p:sp>
      <p:sp>
        <p:nvSpPr>
          <p:cNvPr id="3" name="Карточка Hash session:{номер} — «карточка сессии»"/>
          <p:cNvSpPr/>
          <p:nvPr/>
        </p:nvSpPr>
        <p:spPr>
          <a:xfrm>
            <a:off x="548640" y="1188720"/>
            <a:ext cx="5943600" cy="3337560"/>
          </a:xfrm>
          <a:prstGeom prst="roundRect">
            <a:avLst>
              <a:gd name="adj" fmla="val 274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075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399032"/>
            <a:ext cx="201168" cy="2011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70432" y="1280160"/>
            <a:ext cx="523036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Hash session:{номер} — «карточка сессии»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13232" y="1792224"/>
            <a:ext cx="5614416" cy="26426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Hash — это «папка с подписанными полями». Одна сессия — одна папка со сроком жизни (TTL). Пример: session:02f59d28-e667-…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userId </a:t>
            </a:r>
            <a:r>
              <a:rPr lang="en-US" sz="1400" dirty="0">
                <a:solidFill>
                  <a:schemeClr val="tx1"/>
                </a:solidFill>
              </a:rPr>
              <a:t>— чей пропуск (user_08)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ip, userAgent </a:t>
            </a:r>
            <a:r>
              <a:rPr lang="en-US" sz="1400" dirty="0">
                <a:solidFill>
                  <a:schemeClr val="tx1"/>
                </a:solidFill>
              </a:rPr>
              <a:t>— с какого адреса и браузера (10.0.0.159, Chrome)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status </a:t>
            </a:r>
            <a:r>
              <a:rPr lang="en-US" sz="1400" dirty="0">
                <a:solidFill>
                  <a:schemeClr val="tx1"/>
                </a:solidFill>
              </a:rPr>
              <a:t>— ACTIVE (действует) или REVOKED (отозван)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createdAt, lastAccessAt </a:t>
            </a:r>
            <a:r>
              <a:rPr lang="en-US" sz="1400" dirty="0">
                <a:solidFill>
                  <a:schemeClr val="tx1"/>
                </a:solidFill>
              </a:rPr>
              <a:t>— когда создан и когда использовался в последний раз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Нюанс: </a:t>
            </a:r>
            <a:r>
              <a:rPr lang="en-US" sz="1400" dirty="0">
                <a:solidFill>
                  <a:schemeClr val="tx1"/>
                </a:solidFill>
              </a:rPr>
              <a:t>в Hash всё хранится как текст, а время — число миллисекунд с 1970 года.</a:t>
            </a:r>
            <a:endParaRPr lang="en-US" sz="1400" dirty="0"/>
          </a:p>
        </p:txBody>
      </p:sp>
      <p:sp>
        <p:nvSpPr>
          <p:cNvPr id="8" name="Карточка Set user_sessions:{userId} — «список»"/>
          <p:cNvSpPr/>
          <p:nvPr/>
        </p:nvSpPr>
        <p:spPr>
          <a:xfrm>
            <a:off x="6675120" y="1188720"/>
            <a:ext cx="4937760" cy="3337560"/>
          </a:xfrm>
          <a:prstGeom prst="roundRect">
            <a:avLst>
              <a:gd name="adj" fmla="val 274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12280" y="1307592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139903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96912" y="1280160"/>
            <a:ext cx="422452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Set user_sessions:{userId} — «список»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6839712" y="1792224"/>
            <a:ext cx="4608576" cy="26426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Set — это «множество без повторов». Для каждого пользователя хранится список номеров его сессий.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Зачем: </a:t>
            </a:r>
            <a:r>
              <a:rPr lang="en-US" sz="1400" dirty="0">
                <a:solidFill>
                  <a:schemeClr val="tx1"/>
                </a:solidFill>
              </a:rPr>
              <a:t>Redis не ищет по значению поля. Чтобы найти все сессии человека, нужен готовый список.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Для чего нужен: </a:t>
            </a:r>
            <a:r>
              <a:rPr lang="en-US" sz="1400" dirty="0">
                <a:solidFill>
                  <a:schemeClr val="tx1"/>
                </a:solidFill>
              </a:rPr>
              <a:t>отозвать все сессии пользователя и показать активные.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Пример: </a:t>
            </a:r>
            <a:r>
              <a:rPr lang="en-US" sz="1400" dirty="0">
                <a:solidFill>
                  <a:schemeClr val="tx1"/>
                </a:solidFill>
              </a:rPr>
              <a:t>в user_sessions:user_01 лежат номера 4 сессий этого пользователя.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Нюанс: </a:t>
            </a:r>
            <a:r>
              <a:rPr lang="en-US" sz="1400" dirty="0">
                <a:solidFill>
                  <a:schemeClr val="tx1"/>
                </a:solidFill>
              </a:rPr>
              <a:t>в Set не бывает дубликатов, один номер нельзя записать дважды.</a:t>
            </a:r>
            <a:endParaRPr lang="en-US" sz="1400" dirty="0"/>
          </a:p>
        </p:txBody>
      </p:sp>
      <p:sp>
        <p:nvSpPr>
          <p:cNvPr id="13" name="Карточка Правило 1: таймер"/>
          <p:cNvSpPr/>
          <p:nvPr/>
        </p:nvSpPr>
        <p:spPr>
          <a:xfrm>
            <a:off x="548640" y="4709160"/>
            <a:ext cx="361188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85800" y="48280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919472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70432" y="4800600"/>
            <a:ext cx="28986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Правило 1: таймер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713232" y="5312664"/>
            <a:ext cx="3282696" cy="9509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TTL ставится при входе и сбрасывается при каждой активности. Бездействие — и запись исчезает сама.</a:t>
            </a:r>
            <a:endParaRPr lang="en-US" sz="1400" dirty="0"/>
          </a:p>
        </p:txBody>
      </p:sp>
      <p:sp>
        <p:nvSpPr>
          <p:cNvPr id="18" name="Карточка Правило 2: отзыв"/>
          <p:cNvSpPr/>
          <p:nvPr/>
        </p:nvSpPr>
        <p:spPr>
          <a:xfrm>
            <a:off x="4274820" y="4709160"/>
            <a:ext cx="361188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411980" y="4828032"/>
            <a:ext cx="384048" cy="38404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3420" y="4919472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4896612" y="4800600"/>
            <a:ext cx="28986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Правило 2: отзыв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4439412" y="5312664"/>
            <a:ext cx="3282696" cy="9509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Статус меняется на REVOKED, а запись живёт ещё 300 с «для аудита» (чтобы можно было разобраться), затем исчезает.</a:t>
            </a:r>
            <a:endParaRPr lang="en-US" sz="1400" dirty="0"/>
          </a:p>
        </p:txBody>
      </p:sp>
      <p:sp>
        <p:nvSpPr>
          <p:cNvPr id="23" name="Карточка Правило 3: «сироты»"/>
          <p:cNvSpPr/>
          <p:nvPr/>
        </p:nvSpPr>
        <p:spPr>
          <a:xfrm>
            <a:off x="8001000" y="4709160"/>
            <a:ext cx="361188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8138160" y="4828032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4919472"/>
            <a:ext cx="201168" cy="20116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8622792" y="4800600"/>
            <a:ext cx="28986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Правило 3: «сироты»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8165592" y="5312664"/>
            <a:ext cx="3282696" cy="9509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Если карточка истекла, а номер остался в списке, он удаляется при следующем чтении (SREM).</a:t>
            </a: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1440" y="9144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lang="en-US" b="1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2" hasCustomPrompt="1"/>
          </p:nvPr>
        </p:nvSpPr>
        <p:spPr>
          <a:xfrm>
            <a:off x="1234440" y="256032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Архитектура: как всё устроено</a:t>
            </a:r>
            <a:endParaRPr lang="en-US" sz="2800" dirty="0"/>
          </a:p>
        </p:txBody>
      </p:sp>
      <p:sp>
        <p:nvSpPr>
          <p:cNvPr id="3" name="Блок Seed / Demo / Tests"/>
          <p:cNvSpPr/>
          <p:nvPr/>
        </p:nvSpPr>
        <p:spPr>
          <a:xfrm>
            <a:off x="548640" y="1188720"/>
            <a:ext cx="2331720" cy="9144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2331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Seed / Demo / Tests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запускают операции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971800" y="1508760"/>
            <a:ext cx="393192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Блок SessionService"/>
          <p:cNvSpPr/>
          <p:nvPr/>
        </p:nvSpPr>
        <p:spPr>
          <a:xfrm>
            <a:off x="3456432" y="1188720"/>
            <a:ext cx="2331720" cy="9144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56432" y="1188720"/>
            <a:ext cx="2331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SessionService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Java 17, вся логика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879592" y="1508760"/>
            <a:ext cx="393192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Блок Jedis"/>
          <p:cNvSpPr/>
          <p:nvPr/>
        </p:nvSpPr>
        <p:spPr>
          <a:xfrm>
            <a:off x="6364224" y="1188720"/>
            <a:ext cx="2331720" cy="9144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64224" y="1188720"/>
            <a:ext cx="2331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Jedis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связь Java и Redis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787384" y="1508760"/>
            <a:ext cx="393192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Блок Redis в Docker"/>
          <p:cNvSpPr/>
          <p:nvPr/>
        </p:nvSpPr>
        <p:spPr>
          <a:xfrm>
            <a:off x="9272016" y="1188720"/>
            <a:ext cx="2331720" cy="91440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72016" y="1188720"/>
            <a:ext cx="2331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Redis в Docker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хранит Hash и Set</a:t>
            </a:r>
            <a:endParaRPr lang="en-US" sz="1400" dirty="0"/>
          </a:p>
        </p:txBody>
      </p:sp>
      <p:sp>
        <p:nvSpPr>
          <p:cNvPr id="14" name="Карточка Пример: пользователь входит и работает"/>
          <p:cNvSpPr/>
          <p:nvPr/>
        </p:nvSpPr>
        <p:spPr>
          <a:xfrm>
            <a:off x="548640" y="2331720"/>
            <a:ext cx="6766560" cy="4023360"/>
          </a:xfrm>
          <a:prstGeom prst="roundRect">
            <a:avLst>
              <a:gd name="adj" fmla="val 2273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24505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542032"/>
            <a:ext cx="201168" cy="20116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170432" y="2423160"/>
            <a:ext cx="605332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Пример: пользователь входит и работает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13232" y="2935224"/>
            <a:ext cx="6437376" cy="33284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1. </a:t>
            </a:r>
            <a:r>
              <a:rPr lang="en-US" sz="1400" dirty="0">
                <a:solidFill>
                  <a:schemeClr val="tx1"/>
                </a:solidFill>
              </a:rPr>
              <a:t>Приложение вызывает login для user_01 (вход).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2. </a:t>
            </a:r>
            <a:r>
              <a:rPr lang="en-US" sz="1400" dirty="0">
                <a:solidFill>
                  <a:schemeClr val="tx1"/>
                </a:solidFill>
              </a:rPr>
              <a:t>SessionService придумывает случайный номер пропуска (UUID).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3. </a:t>
            </a:r>
            <a:r>
              <a:rPr lang="en-US" sz="1400" dirty="0">
                <a:solidFill>
                  <a:schemeClr val="tx1"/>
                </a:solidFill>
              </a:rPr>
              <a:t>Через Jedis в Redis записывается карточка Hash и включается таймер.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4. </a:t>
            </a:r>
            <a:r>
              <a:rPr lang="en-US" sz="1400" dirty="0">
                <a:solidFill>
                  <a:schemeClr val="tx1"/>
                </a:solidFill>
              </a:rPr>
              <a:t>Номер добавляется в список Set этого пользователя.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5. </a:t>
            </a:r>
            <a:r>
              <a:rPr lang="en-US" sz="1400" dirty="0">
                <a:solidFill>
                  <a:schemeClr val="tx1"/>
                </a:solidFill>
              </a:rPr>
              <a:t>Приложение получает номер пропуска и использует его дальше.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6. </a:t>
            </a:r>
            <a:r>
              <a:rPr lang="en-US" sz="1400" dirty="0">
                <a:solidFill>
                  <a:schemeClr val="tx1"/>
                </a:solidFill>
              </a:rPr>
              <a:t>При каждом клике validate читает карточку: нет карточки — пропуск истёк; статус REVOKED — отозван; ACTIVE — пускаем.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7. </a:t>
            </a:r>
            <a:r>
              <a:rPr lang="en-US" sz="1400" dirty="0">
                <a:solidFill>
                  <a:schemeClr val="tx1"/>
                </a:solidFill>
              </a:rPr>
              <a:t>При выходе logout удаляет карточку и номер из списка.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Нюанс. </a:t>
            </a:r>
            <a:r>
              <a:rPr lang="en-US" sz="1400" dirty="0">
                <a:solidFill>
                  <a:schemeClr val="tx1"/>
                </a:solidFill>
              </a:rPr>
              <a:t>Для истёкшей сессии отдельный код не нужен: Redis сам удалил карточку, и validate видит пустой результат.</a:t>
            </a:r>
            <a:endParaRPr lang="en-US" sz="1400" dirty="0"/>
          </a:p>
        </p:txBody>
      </p:sp>
      <p:sp>
        <p:nvSpPr>
          <p:cNvPr id="19" name="Карточка Что такое Docker и Jedis"/>
          <p:cNvSpPr/>
          <p:nvPr/>
        </p:nvSpPr>
        <p:spPr>
          <a:xfrm>
            <a:off x="7498080" y="2331720"/>
            <a:ext cx="4114800" cy="4023360"/>
          </a:xfrm>
          <a:prstGeom prst="roundRect">
            <a:avLst>
              <a:gd name="adj" fmla="val 2273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635240" y="2450592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0" y="2542032"/>
            <a:ext cx="201168" cy="201168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8119872" y="2423160"/>
            <a:ext cx="340156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Что такое Docker и Jedis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7662672" y="2935224"/>
            <a:ext cx="3785616" cy="33284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Docker </a:t>
            </a:r>
            <a:r>
              <a:rPr lang="en-US" sz="1400" dirty="0">
                <a:solidFill>
                  <a:schemeClr val="tx1"/>
                </a:solidFill>
              </a:rPr>
              <a:t>— «коробка» с готовой программой. Redis запускается одной кнопкой, ничего не надо устанавливать на компьютер.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Jedis </a:t>
            </a:r>
            <a:r>
              <a:rPr lang="en-US" sz="1400" dirty="0">
                <a:solidFill>
                  <a:schemeClr val="tx1"/>
                </a:solidFill>
              </a:rPr>
              <a:t>— «переводчик»: Java-программа говорит с Redis через эту библиотеку.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Порт 6379 </a:t>
            </a:r>
            <a:r>
              <a:rPr lang="en-US" sz="1400" dirty="0">
                <a:solidFill>
                  <a:schemeClr val="tx1"/>
                </a:solidFill>
              </a:rPr>
              <a:t>— «адрес двери», через которую программа заходит в Redis.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.env </a:t>
            </a:r>
            <a:r>
              <a:rPr lang="en-US" sz="1400" dirty="0">
                <a:solidFill>
                  <a:schemeClr val="tx1"/>
                </a:solidFill>
              </a:rPr>
              <a:t>— файл настроек: адрес и порт Redis, срок жизни сессии (1800 с = 30 минут). На GitHub лежит только шаблон .env.example.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1440" y="9144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lang="en-US" b="1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2" hasCustomPrompt="1"/>
          </p:nvPr>
        </p:nvSpPr>
        <p:spPr>
          <a:xfrm>
            <a:off x="1234440" y="256032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Реализация: код и данные</a:t>
            </a:r>
            <a:endParaRPr lang="en-US" sz="2800" dirty="0"/>
          </a:p>
        </p:txBody>
      </p:sp>
      <p:sp>
        <p:nvSpPr>
          <p:cNvPr id="3" name="Код login"/>
          <p:cNvSpPr/>
          <p:nvPr/>
        </p:nvSpPr>
        <p:spPr>
          <a:xfrm>
            <a:off x="548640" y="1188720"/>
            <a:ext cx="6035040" cy="3246120"/>
          </a:xfrm>
          <a:prstGeom prst="roundRect">
            <a:avLst>
              <a:gd name="adj" fmla="val 281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61872"/>
            <a:ext cx="56692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Главные методы: login и validate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91640"/>
            <a:ext cx="5669280" cy="2697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создание сессии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id = UUID.randomUUID().toString();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r.hset("session:" + id, fields);    // карточка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r.expire("session:" + id, ttlSec);  // таймер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r.sadd("user_sessions:" + userId, id);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проверка сессии (validate)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r.hgetAll("session:" + id);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(m.isEmpty() || !"ACTIVE".equals(m.get("status")))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Optional.empty();  // не пускаем</a:t>
            </a:r>
            <a:endParaRPr lang="en-US" sz="1200" dirty="0"/>
          </a:p>
        </p:txBody>
      </p:sp>
      <p:sp>
        <p:nvSpPr>
          <p:cNvPr id="6" name="Карточка Код по-простому"/>
          <p:cNvSpPr/>
          <p:nvPr/>
        </p:nvSpPr>
        <p:spPr>
          <a:xfrm>
            <a:off x="6766560" y="1188720"/>
            <a:ext cx="4846320" cy="3246120"/>
          </a:xfrm>
          <a:prstGeom prst="roundRect">
            <a:avLst>
              <a:gd name="adj" fmla="val 2817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03720" y="1307592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399032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388352" y="1280160"/>
            <a:ext cx="413308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Код по-простому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931152" y="1792224"/>
            <a:ext cx="4517136" cy="25511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Строка 1: </a:t>
            </a:r>
            <a:r>
              <a:rPr lang="en-US" sz="1400" dirty="0">
                <a:solidFill>
                  <a:schemeClr val="tx1"/>
                </a:solidFill>
              </a:rPr>
              <a:t>придумали уникальный номер.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Строка 2: </a:t>
            </a:r>
            <a:r>
              <a:rPr lang="en-US" sz="1400" dirty="0">
                <a:solidFill>
                  <a:schemeClr val="tx1"/>
                </a:solidFill>
              </a:rPr>
              <a:t>записали карточку в Redis.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Строка 3: </a:t>
            </a:r>
            <a:r>
              <a:rPr lang="en-US" sz="1400" dirty="0">
                <a:solidFill>
                  <a:schemeClr val="tx1"/>
                </a:solidFill>
              </a:rPr>
              <a:t>включили таймер (по умолчанию 30 минут).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Строка 4: </a:t>
            </a:r>
            <a:r>
              <a:rPr lang="en-US" sz="1400" dirty="0">
                <a:solidFill>
                  <a:schemeClr val="tx1"/>
                </a:solidFill>
              </a:rPr>
              <a:t>добавили номер в список пользователя.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Строка 5: </a:t>
            </a:r>
            <a:r>
              <a:rPr lang="en-US" sz="1400" dirty="0">
                <a:solidFill>
                  <a:schemeClr val="tx1"/>
                </a:solidFill>
              </a:rPr>
              <a:t>вернули номер пропуска.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validate: </a:t>
            </a:r>
            <a:r>
              <a:rPr lang="en-US" sz="1400" dirty="0">
                <a:solidFill>
                  <a:schemeClr val="tx1"/>
                </a:solidFill>
              </a:rPr>
              <a:t>читаем карточку; если её нет (истекла) или статус не ACTIVE (отозвана), не пускаем.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Нюанс: </a:t>
            </a:r>
            <a:r>
              <a:rPr lang="en-US" sz="1400" dirty="0">
                <a:solidFill>
                  <a:schemeClr val="tx1"/>
                </a:solidFill>
              </a:rPr>
              <a:t>срок жизни берётся из настроек и задаётся в секундах.</a:t>
            </a:r>
            <a:endParaRPr lang="en-US" sz="1400" dirty="0"/>
          </a:p>
        </p:txBody>
      </p:sp>
      <p:sp>
        <p:nvSpPr>
          <p:cNvPr id="11" name="Карточка Из чего состоит проект"/>
          <p:cNvSpPr/>
          <p:nvPr/>
        </p:nvSpPr>
        <p:spPr>
          <a:xfrm>
            <a:off x="548640" y="4617720"/>
            <a:ext cx="603504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85800" y="47365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28032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170432" y="4709160"/>
            <a:ext cx="532180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Из чего состоит проект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713232" y="5221224"/>
            <a:ext cx="5705856" cy="10424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Db </a:t>
            </a:r>
            <a:r>
              <a:rPr lang="en-US" sz="1400" dirty="0">
                <a:solidFill>
                  <a:schemeClr val="tx1"/>
                </a:solidFill>
              </a:rPr>
              <a:t>— подключение, настройки из .env.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SessionService </a:t>
            </a:r>
            <a:r>
              <a:rPr lang="en-US" sz="1400" dirty="0">
                <a:solidFill>
                  <a:schemeClr val="tx1"/>
                </a:solidFill>
              </a:rPr>
              <a:t>— вся логика сессий.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Seed, Demo </a:t>
            </a:r>
            <a:r>
              <a:rPr lang="en-US" sz="1400" dirty="0">
                <a:solidFill>
                  <a:schemeClr val="tx1"/>
                </a:solidFill>
              </a:rPr>
              <a:t>— заполнение данными и 12 запросов.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SessionServiceTest </a:t>
            </a:r>
            <a:r>
              <a:rPr lang="en-US" sz="1400" dirty="0">
                <a:solidFill>
                  <a:schemeClr val="tx1"/>
                </a:solidFill>
              </a:rPr>
              <a:t>— 5 автотестов.</a:t>
            </a:r>
            <a:endParaRPr lang="en-US" sz="1400" dirty="0"/>
          </a:p>
        </p:txBody>
      </p:sp>
      <p:sp>
        <p:nvSpPr>
          <p:cNvPr id="16" name="Карточка Тестовые данные"/>
          <p:cNvSpPr/>
          <p:nvPr/>
        </p:nvSpPr>
        <p:spPr>
          <a:xfrm>
            <a:off x="6766560" y="4617720"/>
            <a:ext cx="484632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903720" y="4736592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0" y="4828032"/>
            <a:ext cx="201168" cy="20116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388352" y="4709160"/>
            <a:ext cx="413308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Тестовые данные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6931152" y="5221224"/>
            <a:ext cx="4517136" cy="10424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40 выдуманных сессий для 10 пользователей. Каждая 5-я живёт 60 секунд (чтобы увидеть истечение), каждая 7-я отозвана. Реальных данных нет.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1440" y="9144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lang="en-US" b="1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2" hasCustomPrompt="1"/>
          </p:nvPr>
        </p:nvSpPr>
        <p:spPr>
          <a:xfrm>
            <a:off x="1234440" y="256032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Результаты запросов и тестов</a:t>
            </a:r>
            <a:endParaRPr lang="en-US" sz="2800" dirty="0"/>
          </a:p>
        </p:txBody>
      </p:sp>
      <p:sp>
        <p:nvSpPr>
          <p:cNvPr id="3" name="Показатель 12"/>
          <p:cNvSpPr/>
          <p:nvPr/>
        </p:nvSpPr>
        <p:spPr>
          <a:xfrm>
            <a:off x="548640" y="1188720"/>
            <a:ext cx="2697480" cy="2788920"/>
          </a:xfrm>
          <a:prstGeom prst="roundRect">
            <a:avLst>
              <a:gd name="adj" fmla="val 339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2"/>
                </a:solidFill>
              </a:rPr>
              <a:t>12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116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запросов выполнено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77440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Q1–Q9 обычные операции, Q10 и Q11 нетривиальные (обход ключей и подсчёты), Q12 замер времени.</a:t>
            </a:r>
            <a:endParaRPr lang="en-US" sz="1400" dirty="0"/>
          </a:p>
        </p:txBody>
      </p:sp>
      <p:sp>
        <p:nvSpPr>
          <p:cNvPr id="7" name="Показатель 0,349 мс"/>
          <p:cNvSpPr/>
          <p:nvPr/>
        </p:nvSpPr>
        <p:spPr>
          <a:xfrm>
            <a:off x="3364992" y="1188720"/>
            <a:ext cx="2697480" cy="2788920"/>
          </a:xfrm>
          <a:prstGeom prst="roundRect">
            <a:avLst>
              <a:gd name="adj" fmla="val 339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64992" y="128016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2"/>
                </a:solidFill>
              </a:rPr>
              <a:t>0,349 мс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3456432" y="20116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проверка сессии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502152" y="2377440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Требовалось быстрее 10 мс, получилось почти в 30 раз быстрее. Требование NFR1 выполнено.</a:t>
            </a:r>
            <a:endParaRPr lang="en-US" sz="1400" dirty="0"/>
          </a:p>
        </p:txBody>
      </p:sp>
      <p:sp>
        <p:nvSpPr>
          <p:cNvPr id="11" name="Показатель 5 из 5"/>
          <p:cNvSpPr/>
          <p:nvPr/>
        </p:nvSpPr>
        <p:spPr>
          <a:xfrm>
            <a:off x="6181344" y="1188720"/>
            <a:ext cx="2697480" cy="2788920"/>
          </a:xfrm>
          <a:prstGeom prst="roundRect">
            <a:avLst>
              <a:gd name="adj" fmla="val 339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81344" y="128016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2"/>
                </a:solidFill>
              </a:rPr>
              <a:t>5 из 5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6272784" y="20116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тестов пройдено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318504" y="2377440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Вход, выход, отзыв, истечение срока (1 с) и отзыв всех сессий пользователя.</a:t>
            </a:r>
            <a:endParaRPr lang="en-US" sz="1400" dirty="0"/>
          </a:p>
        </p:txBody>
      </p:sp>
      <p:sp>
        <p:nvSpPr>
          <p:cNvPr id="15" name="Показатель 43 → 37"/>
          <p:cNvSpPr/>
          <p:nvPr/>
        </p:nvSpPr>
        <p:spPr>
          <a:xfrm>
            <a:off x="8997696" y="1188720"/>
            <a:ext cx="2697480" cy="2788920"/>
          </a:xfrm>
          <a:prstGeom prst="roundRect">
            <a:avLst>
              <a:gd name="adj" fmla="val 339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97696" y="128016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2"/>
                </a:solidFill>
              </a:rPr>
              <a:t>43 → 37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9089136" y="20116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ключей в Redis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134856" y="2377440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За время ожидания Redis сам удалил просроченные сессии. Требование FR8 подтверждено.</a:t>
            </a:r>
            <a:endParaRPr lang="en-US" sz="1400" dirty="0"/>
          </a:p>
        </p:txBody>
      </p:sp>
      <p:sp>
        <p:nvSpPr>
          <p:cNvPr id="19" name="Карточка Что проверяли запросы Demo"/>
          <p:cNvSpPr/>
          <p:nvPr/>
        </p:nvSpPr>
        <p:spPr>
          <a:xfrm>
            <a:off x="548640" y="4160520"/>
            <a:ext cx="548640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42793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370832"/>
            <a:ext cx="201168" cy="201168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170432" y="4251960"/>
            <a:ext cx="477316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Что проверяли запросы Demo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713232" y="4764024"/>
            <a:ext cx="5157216" cy="14996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login, validate, touch, logout, revoke — основной жизненный цикл; revoke всех сессий user_02 — отозвано 3;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Q10: сколько сессий в каждом статусе (ACTIVE 25, REVOKED 3);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Q11: кто чаще всего входит (user_07, user_04, user_10 по 4).</a:t>
            </a:r>
            <a:endParaRPr lang="en-US" sz="1400" dirty="0"/>
          </a:p>
        </p:txBody>
      </p:sp>
      <p:sp>
        <p:nvSpPr>
          <p:cNvPr id="24" name="Карточка Автотесты: «самопроверка кода»"/>
          <p:cNvSpPr/>
          <p:nvPr/>
        </p:nvSpPr>
        <p:spPr>
          <a:xfrm>
            <a:off x="6217920" y="4160520"/>
            <a:ext cx="539496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355080" y="42793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4370832"/>
            <a:ext cx="201168" cy="201168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6839712" y="4251960"/>
            <a:ext cx="468172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Автотесты: «самопроверка кода»</a:t>
            </a:r>
            <a:endParaRPr lang="en-US" sz="1400" dirty="0"/>
          </a:p>
        </p:txBody>
      </p:sp>
      <p:sp>
        <p:nvSpPr>
          <p:cNvPr id="28" name="Text 24"/>
          <p:cNvSpPr txBox="1"/>
          <p:nvPr/>
        </p:nvSpPr>
        <p:spPr>
          <a:xfrm>
            <a:off x="6382512" y="4764024"/>
            <a:ext cx="5065776" cy="14996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Тест — это маленькая программа, которая сама проверяет, что код работает как задумано.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Тесты идут в отдельной базе Redis №1, поэтому тестовые данные не мешают основным. Самый долгий тест (истечение, 1,5 с) нужен, чтобы убедиться: просроченная сессия действительно не работает.</a:t>
            </a:r>
            <a:endParaRPr lang="en-US" sz="14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1440" y="9144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lang="en-US" b="1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2" hasCustomPrompt="1"/>
          </p:nvPr>
        </p:nvSpPr>
        <p:spPr>
          <a:xfrm>
            <a:off x="1234440" y="256032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Ограничения и как их улучшить</a:t>
            </a:r>
            <a:endParaRPr lang="en-US" sz="2800" dirty="0"/>
          </a:p>
        </p:txBody>
      </p:sp>
      <p:sp>
        <p:nvSpPr>
          <p:cNvPr id="3" name="Карточка Данные в памяти"/>
          <p:cNvSpPr/>
          <p:nvPr/>
        </p:nvSpPr>
        <p:spPr>
          <a:xfrm>
            <a:off x="548640" y="1188720"/>
            <a:ext cx="3611880" cy="246888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075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399032"/>
            <a:ext cx="201168" cy="2011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70432" y="1280160"/>
            <a:ext cx="28986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Данные в памяти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13232" y="1792224"/>
            <a:ext cx="3282696" cy="17739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Что это значит: </a:t>
            </a:r>
            <a:r>
              <a:rPr lang="en-US" sz="1400" dirty="0">
                <a:solidFill>
                  <a:schemeClr val="tx1"/>
                </a:solidFill>
              </a:rPr>
              <a:t>При перезапуске Redis без настройки сохранения сессии пропадут.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5"/>
                </a:solidFill>
              </a:rPr>
              <a:t>Как улучшить: </a:t>
            </a:r>
            <a:r>
              <a:rPr lang="en-US" sz="1400" dirty="0">
                <a:solidFill>
                  <a:schemeClr val="tx1"/>
                </a:solidFill>
              </a:rPr>
              <a:t>Включить RDB или AOF.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6"/>
                </a:solidFill>
              </a:rPr>
              <a:t>Важно: </a:t>
            </a:r>
            <a:r>
              <a:rPr lang="en-US" sz="1400" dirty="0">
                <a:solidFill>
                  <a:schemeClr val="tx1"/>
                </a:solidFill>
              </a:rPr>
              <a:t>Для прототипа это нормально: Seed за секунду заполнит базу заново.</a:t>
            </a:r>
            <a:endParaRPr lang="en-US" sz="1400" dirty="0"/>
          </a:p>
        </p:txBody>
      </p:sp>
      <p:sp>
        <p:nvSpPr>
          <p:cNvPr id="8" name="Карточка Статистика через SCAN"/>
          <p:cNvSpPr/>
          <p:nvPr/>
        </p:nvSpPr>
        <p:spPr>
          <a:xfrm>
            <a:off x="4297680" y="1188720"/>
            <a:ext cx="3611880" cy="246888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434840" y="13075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139903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919472" y="1280160"/>
            <a:ext cx="28986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Статистика через SCAN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4462272" y="1792224"/>
            <a:ext cx="3282696" cy="17739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Что это значит: </a:t>
            </a:r>
            <a:r>
              <a:rPr lang="en-US" sz="1400" dirty="0">
                <a:solidFill>
                  <a:schemeClr val="tx1"/>
                </a:solidFill>
              </a:rPr>
              <a:t>Подсчёты Q8–Q11 перебирают ключи по очереди: на больших объёмах медленно.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5"/>
                </a:solidFill>
              </a:rPr>
              <a:t>Как улучшить: </a:t>
            </a:r>
            <a:r>
              <a:rPr lang="en-US" sz="1400" dirty="0">
                <a:solidFill>
                  <a:schemeClr val="tx1"/>
                </a:solidFill>
              </a:rPr>
              <a:t>Хранить готовые счётчики.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6"/>
                </a:solidFill>
              </a:rPr>
              <a:t>Важно: </a:t>
            </a:r>
            <a:r>
              <a:rPr lang="en-US" sz="1400" dirty="0">
                <a:solidFill>
                  <a:schemeClr val="tx1"/>
                </a:solidFill>
              </a:rPr>
              <a:t>На 50 ключах разницы не видно, проблема начнётся на миллионах.</a:t>
            </a:r>
            <a:endParaRPr lang="en-US" sz="1400" dirty="0"/>
          </a:p>
        </p:txBody>
      </p:sp>
      <p:sp>
        <p:nvSpPr>
          <p:cNvPr id="13" name="Карточка Лишние номера в Set"/>
          <p:cNvSpPr/>
          <p:nvPr/>
        </p:nvSpPr>
        <p:spPr>
          <a:xfrm>
            <a:off x="8046720" y="1188720"/>
            <a:ext cx="3611880" cy="246888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183880" y="13075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1399032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668512" y="1280160"/>
            <a:ext cx="28986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Лишние номера в Set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8211312" y="1792224"/>
            <a:ext cx="3282696" cy="17739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Что это значит: </a:t>
            </a:r>
            <a:r>
              <a:rPr lang="en-US" sz="1400" dirty="0">
                <a:solidFill>
                  <a:schemeClr val="tx1"/>
                </a:solidFill>
              </a:rPr>
              <a:t>Номер истёкшей сессии остаётся в списке до следующего чтения.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5"/>
                </a:solidFill>
              </a:rPr>
              <a:t>Как улучшить: </a:t>
            </a:r>
            <a:r>
              <a:rPr lang="en-US" sz="1400" dirty="0">
                <a:solidFill>
                  <a:schemeClr val="tx1"/>
                </a:solidFill>
              </a:rPr>
              <a:t>Периодическая очистка.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6"/>
                </a:solidFill>
              </a:rPr>
              <a:t>Важно: </a:t>
            </a:r>
            <a:r>
              <a:rPr lang="en-US" sz="1400" dirty="0">
                <a:solidFill>
                  <a:schemeClr val="tx1"/>
                </a:solidFill>
              </a:rPr>
              <a:t>На результат не влияет: проверка всё равно смотрит на карточку.</a:t>
            </a:r>
            <a:endParaRPr lang="en-US" sz="1400" dirty="0"/>
          </a:p>
        </p:txBody>
      </p:sp>
      <p:sp>
        <p:nvSpPr>
          <p:cNvPr id="18" name="Карточка Локальный стенд"/>
          <p:cNvSpPr/>
          <p:nvPr/>
        </p:nvSpPr>
        <p:spPr>
          <a:xfrm>
            <a:off x="548640" y="3794760"/>
            <a:ext cx="3611880" cy="246888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85800" y="3913632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005072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170432" y="3886200"/>
            <a:ext cx="28986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Локальный стенд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713232" y="4398264"/>
            <a:ext cx="3282696" cy="17739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Что это значит: </a:t>
            </a:r>
            <a:r>
              <a:rPr lang="en-US" sz="1400" dirty="0">
                <a:solidFill>
                  <a:schemeClr val="tx1"/>
                </a:solidFill>
              </a:rPr>
              <a:t>Нет кластера, TLS и пароля Redis: подходит для учёбы, не для продакшена.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5"/>
                </a:solidFill>
              </a:rPr>
              <a:t>Как улучшить: </a:t>
            </a:r>
            <a:r>
              <a:rPr lang="en-US" sz="1400" dirty="0">
                <a:solidFill>
                  <a:schemeClr val="tx1"/>
                </a:solidFill>
              </a:rPr>
              <a:t>Redis Cluster, пароль, шифрование.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6"/>
                </a:solidFill>
              </a:rPr>
              <a:t>Важно: </a:t>
            </a:r>
            <a:r>
              <a:rPr lang="en-US" sz="1400" dirty="0">
                <a:solidFill>
                  <a:schemeClr val="tx1"/>
                </a:solidFill>
              </a:rPr>
              <a:t>Доступ только с этого компьютера: для учёбы безопасно.</a:t>
            </a:r>
            <a:endParaRPr lang="en-US" sz="1400" dirty="0"/>
          </a:p>
        </p:txBody>
      </p:sp>
      <p:sp>
        <p:nvSpPr>
          <p:cNvPr id="23" name="Карточка Номер хранится открыто"/>
          <p:cNvSpPr/>
          <p:nvPr/>
        </p:nvSpPr>
        <p:spPr>
          <a:xfrm>
            <a:off x="4297680" y="3794760"/>
            <a:ext cx="3611880" cy="246888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434840" y="3913632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6280" y="4005072"/>
            <a:ext cx="201168" cy="20116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919472" y="3886200"/>
            <a:ext cx="28986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Номер хранится открыто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4462272" y="4398264"/>
            <a:ext cx="3282696" cy="17739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Что это значит: </a:t>
            </a:r>
            <a:r>
              <a:rPr lang="en-US" sz="1400" dirty="0">
                <a:solidFill>
                  <a:schemeClr val="tx1"/>
                </a:solidFill>
              </a:rPr>
              <a:t>Если украсть базу, номера пропусков видны.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5"/>
                </a:solidFill>
              </a:rPr>
              <a:t>Как улучшить: </a:t>
            </a:r>
            <a:r>
              <a:rPr lang="en-US" sz="1400" dirty="0">
                <a:solidFill>
                  <a:schemeClr val="tx1"/>
                </a:solidFill>
              </a:rPr>
              <a:t>Хранить хеш номера.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6"/>
                </a:solidFill>
              </a:rPr>
              <a:t>Важно: </a:t>
            </a:r>
            <a:r>
              <a:rPr lang="en-US" sz="1400" dirty="0">
                <a:solidFill>
                  <a:schemeClr val="tx1"/>
                </a:solidFill>
              </a:rPr>
              <a:t>В прототипе так нужно для наглядности: номера видны в Redis Insight.</a:t>
            </a:r>
            <a:endParaRPr lang="en-US" sz="1400" dirty="0"/>
          </a:p>
        </p:txBody>
      </p:sp>
      <p:sp>
        <p:nvSpPr>
          <p:cNvPr id="28" name="Карточка Контейнер без тома"/>
          <p:cNvSpPr/>
          <p:nvPr/>
        </p:nvSpPr>
        <p:spPr>
          <a:xfrm>
            <a:off x="8046720" y="3794760"/>
            <a:ext cx="3611880" cy="246888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8183880" y="3913632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5320" y="4005072"/>
            <a:ext cx="201168" cy="20116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668512" y="3886200"/>
            <a:ext cx="28986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Контейнер без тома</a:t>
            </a:r>
            <a:endParaRPr lang="en-US" sz="1400" dirty="0"/>
          </a:p>
        </p:txBody>
      </p:sp>
      <p:sp>
        <p:nvSpPr>
          <p:cNvPr id="32" name="Text 24"/>
          <p:cNvSpPr txBox="1"/>
          <p:nvPr/>
        </p:nvSpPr>
        <p:spPr>
          <a:xfrm>
            <a:off x="8211312" y="4398264"/>
            <a:ext cx="3282696" cy="17739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Что это значит: </a:t>
            </a:r>
            <a:r>
              <a:rPr lang="en-US" sz="1400" dirty="0">
                <a:solidFill>
                  <a:schemeClr val="tx1"/>
                </a:solidFill>
              </a:rPr>
              <a:t>После удаления контейнера данные пропадают.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5"/>
                </a:solidFill>
              </a:rPr>
              <a:t>Как улучшить: </a:t>
            </a:r>
            <a:r>
              <a:rPr lang="en-US" sz="1400" dirty="0">
                <a:solidFill>
                  <a:schemeClr val="tx1"/>
                </a:solidFill>
              </a:rPr>
              <a:t>Подключить том Docker (Seed восстановит данные).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6"/>
                </a:solidFill>
              </a:rPr>
              <a:t>Важно: </a:t>
            </a:r>
            <a:r>
              <a:rPr lang="en-US" sz="1400" dirty="0">
                <a:solidFill>
                  <a:schemeClr val="tx1"/>
                </a:solidFill>
              </a:rPr>
              <a:t>Так проще запускать и очищать. Для сдачи достаточно Seed.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1440" y="9144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lang="en-US" b="1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1234440" y="256032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</a:rPr>
              <a:t>Вывод и как запустить проект</a:t>
            </a:r>
            <a:endParaRPr lang="en-US" sz="2800" dirty="0"/>
          </a:p>
        </p:txBody>
      </p:sp>
      <p:sp>
        <p:nvSpPr>
          <p:cNvPr id="3" name="Вывод"/>
          <p:cNvSpPr/>
          <p:nvPr/>
        </p:nvSpPr>
        <p:spPr>
          <a:xfrm>
            <a:off x="548640" y="1188720"/>
            <a:ext cx="5577840" cy="3657600"/>
          </a:xfrm>
          <a:prstGeom prst="roundRect">
            <a:avLst>
              <a:gd name="adj" fmla="val 2500"/>
            </a:avLst>
          </a:prstGeom>
          <a:solidFill>
            <a:schemeClr val="accent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61872"/>
            <a:ext cx="52120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Главное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91640"/>
            <a:ext cx="5212080" cy="3017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4"/>
                </a:solidFill>
              </a:rPr>
              <a:t>1. </a:t>
            </a:r>
            <a:r>
              <a:rPr lang="en-US" sz="1400" dirty="0">
                <a:solidFill>
                  <a:schemeClr val="bg1"/>
                </a:solidFill>
              </a:rPr>
              <a:t>Реализован весь путь сессии: вход, проверка, продление, выход, отзыв и самоудаление.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4"/>
                </a:solidFill>
              </a:rPr>
              <a:t>2. </a:t>
            </a:r>
            <a:r>
              <a:rPr lang="en-US" sz="1400" dirty="0">
                <a:solidFill>
                  <a:schemeClr val="bg1"/>
                </a:solidFill>
              </a:rPr>
              <a:t>Проверка за 0,349 мс; 12 запросов и 5 тестов подтверждают требования.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4"/>
                </a:solidFill>
              </a:rPr>
              <a:t>3. </a:t>
            </a:r>
            <a:r>
              <a:rPr lang="en-US" sz="1400" dirty="0">
                <a:solidFill>
                  <a:schemeClr val="bg1"/>
                </a:solidFill>
              </a:rPr>
              <a:t>Redis выбран осознанно: сравнение с PostgreSQL и MongoDB записано в ADR-001.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4"/>
                </a:solidFill>
              </a:rPr>
              <a:t>4. </a:t>
            </a:r>
            <a:r>
              <a:rPr lang="en-US" sz="1400" dirty="0">
                <a:solidFill>
                  <a:schemeClr val="bg1"/>
                </a:solidFill>
              </a:rPr>
              <a:t>Минусы (память, статистика) известны, и для каждого есть способ улучшения.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4"/>
                </a:solidFill>
              </a:rPr>
              <a:t>5. </a:t>
            </a:r>
            <a:r>
              <a:rPr lang="en-US" sz="1400" dirty="0">
                <a:solidFill>
                  <a:schemeClr val="bg1"/>
                </a:solidFill>
              </a:rPr>
              <a:t>Всё воспроизводимо: в репозитории код, README, ADR, схема, отчёт и презентация.</a:t>
            </a:r>
            <a:endParaRPr lang="en-US" sz="1400" dirty="0"/>
          </a:p>
        </p:txBody>
      </p:sp>
      <p:sp>
        <p:nvSpPr>
          <p:cNvPr id="6" name="Запуск"/>
          <p:cNvSpPr/>
          <p:nvPr/>
        </p:nvSpPr>
        <p:spPr>
          <a:xfrm>
            <a:off x="6309360" y="1188720"/>
            <a:ext cx="5303520" cy="3657600"/>
          </a:xfrm>
          <a:prstGeom prst="roundRect">
            <a:avLst>
              <a:gd name="adj" fmla="val 2500"/>
            </a:avLst>
          </a:prstGeom>
          <a:solidFill>
            <a:schemeClr val="accent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261872"/>
            <a:ext cx="49377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Запуск за 5 действий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1737360"/>
            <a:ext cx="493776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docker compose up -d   (запустить Redis)</a:t>
            </a:r>
            <a:endParaRPr lang="en-US" sz="12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cp .env.example .env   (настройки)</a:t>
            </a:r>
            <a:endParaRPr lang="en-US" sz="12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Seed   (заполнить 40 сессий)</a:t>
            </a:r>
            <a:endParaRPr lang="en-US" sz="12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Demo   (12 запросов)</a:t>
            </a:r>
            <a:endParaRPr lang="en-US" sz="12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mvn test   (5 тестов)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3749040"/>
            <a:ext cx="493776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Что вы увидите: «Inserted sessions: 40», строки Q1–Q12 и «5 tests passed». Подробная инструкция есть в README репозитория.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Исходный код, ADR, схема, отчёт: https://</a:t>
            </a:r>
            <a:r>
              <a:rPr lang="en-US" sz="1400" dirty="0" err="1">
                <a:solidFill>
                  <a:schemeClr val="bg1"/>
                </a:solidFill>
              </a:rPr>
              <a:t>github.com</a:t>
            </a:r>
            <a:r>
              <a:rPr lang="en-US" sz="1400" dirty="0">
                <a:solidFill>
                  <a:schemeClr val="bg1"/>
                </a:solidFill>
              </a:rPr>
              <a:t>/koster17/NoSQL-</a:t>
            </a:r>
            <a:r>
              <a:rPr lang="en-US" sz="1400" dirty="0" err="1">
                <a:solidFill>
                  <a:schemeClr val="bg1"/>
                </a:solidFill>
              </a:rPr>
              <a:t>sro</a:t>
            </a:r>
            <a:r>
              <a:rPr lang="en-US" sz="1400" dirty="0">
                <a:solidFill>
                  <a:schemeClr val="bg1"/>
                </a:solidFill>
              </a:rPr>
              <a:t>/tree/main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365760" y="55961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Спасибо </a:t>
            </a:r>
            <a:r>
              <a:rPr lang="en-US" sz="2000" b="1" dirty="0" err="1">
                <a:solidFill>
                  <a:schemeClr val="bg1"/>
                </a:solidFill>
              </a:rPr>
              <a:t>за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внимание</a:t>
            </a:r>
            <a:r>
              <a:rPr lang="en-US" sz="2000" b="1" dirty="0">
                <a:solidFill>
                  <a:schemeClr val="bg1"/>
                </a:solidFill>
              </a:rPr>
              <a:t>!.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1440" y="9144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lang="en-US" b="1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TU SRO">
  <a:themeElements>
    <a:clrScheme name="ATU SRO">
      <a:dk1>
        <a:srgbClr val="1F2937"/>
      </a:dk1>
      <a:lt1>
        <a:srgbClr val="FFFFFF"/>
      </a:lt1>
      <a:dk2>
        <a:srgbClr val="1B365D"/>
      </a:dk2>
      <a:lt2>
        <a:srgbClr val="EEF3FB"/>
      </a:lt2>
      <a:accent1>
        <a:srgbClr val="1B365D"/>
      </a:accent1>
      <a:accent2>
        <a:srgbClr val="4472C4"/>
      </a:accent2>
      <a:accent3>
        <a:srgbClr val="D9E2F3"/>
      </a:accent3>
      <a:accent4>
        <a:srgbClr val="F2B705"/>
      </a:accent4>
      <a:accent5>
        <a:srgbClr val="2F855A"/>
      </a:accent5>
      <a:accent6>
        <a:srgbClr val="B45309"/>
      </a:accent6>
      <a:hlink>
        <a:srgbClr val="2F5597"/>
      </a:hlink>
      <a:folHlink>
        <a:srgbClr val="5B6B82"/>
      </a:folHlink>
    </a:clrScheme>
    <a:fontScheme name="ATU SRO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2808</Words>
  <Application>Microsoft Macintosh PowerPoint</Application>
  <PresentationFormat>Широкоэкранный</PresentationFormat>
  <Paragraphs>226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Courier New</vt:lpstr>
      <vt:lpstr>Times New Roman</vt:lpstr>
      <vt:lpstr>ATU SRO</vt:lpstr>
      <vt:lpstr>Презентация PowerPoint</vt:lpstr>
      <vt:lpstr>Проблема и цель: что такое сессия</vt:lpstr>
      <vt:lpstr>Требования: что должна уметь система</vt:lpstr>
      <vt:lpstr>Выбор технологии: почему Redis</vt:lpstr>
      <vt:lpstr>Модель данных: Hash и Set</vt:lpstr>
      <vt:lpstr>Архитектура: как всё устроено</vt:lpstr>
      <vt:lpstr>Реализация: код и данные</vt:lpstr>
      <vt:lpstr>Результаты запросов и тестов</vt:lpstr>
      <vt:lpstr>Ограничения и как их улучшить</vt:lpstr>
      <vt:lpstr>Вывод и как запустить проект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СРО, вариант 9: хранилище пользовательских сессий на Redis</dc:title>
  <dc:subject>PptxGenJS Presentation</dc:subject>
  <dc:creator>Замякин Константин Дмитриевич</dc:creator>
  <cp:lastModifiedBy>костя замякин</cp:lastModifiedBy>
  <cp:revision>2</cp:revision>
  <dcterms:created xsi:type="dcterms:W3CDTF">2026-10-20T11:16:10Z</dcterms:created>
  <dcterms:modified xsi:type="dcterms:W3CDTF">2026-10-20T11:20:18Z</dcterms:modified>
</cp:coreProperties>
</file>